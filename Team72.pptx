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  <p:embeddedFont>
      <p:font typeface="Calibri (MS)" charset="1" panose="020F0502020204030204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https://larr.dolr.gov.in" TargetMode="External" Type="http://schemas.openxmlformats.org/officeDocument/2006/relationships/hyperlink"/><Relationship Id="rId5" Target="https://larr.dolr.gov.in/faces/public/projectwise.xhtml" TargetMode="External" Type="http://schemas.openxmlformats.org/officeDocument/2006/relationships/hyperlink"/><Relationship Id="rId6" Target="https://www.larr.dolr.gov.in/faces/pdf/Steps_of_data_entry.pdf" TargetMode="External" Type="http://schemas.openxmlformats.org/officeDocument/2006/relationships/hyperlink"/><Relationship Id="rId7" Target="https://www.data.gov.in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99735" y="1525848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39636" y="3057025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490990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67901" y="1271863"/>
            <a:ext cx="11511105" cy="882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</a:p>
          <a:p>
            <a:pPr algn="just" marL="742234" indent="-247411" lvl="2">
              <a:lnSpc>
                <a:spcPts val="8438"/>
              </a:lnSpc>
              <a:buFont typeface="Arial"/>
              <a:buChar char="⚬"/>
            </a:pPr>
            <a:r>
              <a:rPr lang="en-US" b="true" sz="35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SIH26017</a:t>
            </a:r>
          </a:p>
          <a:p>
            <a:pPr algn="just" marL="742234" indent="-247411" lvl="2">
              <a:lnSpc>
                <a:spcPts val="8438"/>
              </a:lnSpc>
              <a:buFont typeface="Arial"/>
              <a:buChar char="⚬"/>
            </a:pPr>
            <a:r>
              <a:rPr lang="en-US" b="true" sz="35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Predictive Analytics System For Early Detection Of Land Acquisition Delays.</a:t>
            </a:r>
          </a:p>
          <a:p>
            <a:pPr algn="just" marL="742234" indent="-247411" lvl="2">
              <a:lnSpc>
                <a:spcPts val="8438"/>
              </a:lnSpc>
              <a:buFont typeface="Arial"/>
              <a:buChar char="⚬"/>
            </a:pPr>
            <a:r>
              <a:rPr lang="en-US" b="true" sz="35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Automation</a:t>
            </a:r>
          </a:p>
          <a:p>
            <a:pPr algn="just" marL="742234" indent="-247411" lvl="2">
              <a:lnSpc>
                <a:spcPts val="8438"/>
              </a:lnSpc>
              <a:buFont typeface="Arial"/>
              <a:buChar char="⚬"/>
            </a:pPr>
            <a:r>
              <a:rPr lang="en-US" b="true" sz="35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742234" indent="-247411" lvl="2">
              <a:lnSpc>
                <a:spcPts val="8438"/>
              </a:lnSpc>
              <a:buFont typeface="Arial"/>
              <a:buChar char="⚬"/>
            </a:pPr>
            <a:r>
              <a:rPr lang="en-US" b="true" sz="35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Team72</a:t>
            </a:r>
          </a:p>
          <a:p>
            <a:pPr algn="just" marL="742234" indent="-247411" lvl="2">
              <a:lnSpc>
                <a:spcPts val="8438"/>
              </a:lnSpc>
              <a:buFont typeface="Arial"/>
              <a:buChar char="⚬"/>
            </a:pPr>
            <a:r>
              <a:rPr lang="en-US" b="true" sz="35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- CODOHOLICS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315" y="-10608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ACQUIVISION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008" y="2248"/>
            <a:ext cx="2150678" cy="1249101"/>
            <a:chOff x="0" y="0"/>
            <a:chExt cx="2867570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86752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67528">
                  <a:moveTo>
                    <a:pt x="0" y="832740"/>
                  </a:moveTo>
                  <a:cubicBezTo>
                    <a:pt x="0" y="372873"/>
                    <a:pt x="641965" y="0"/>
                    <a:pt x="1433764" y="0"/>
                  </a:cubicBezTo>
                  <a:cubicBezTo>
                    <a:pt x="2225563" y="0"/>
                    <a:pt x="2867528" y="372873"/>
                    <a:pt x="2867528" y="832740"/>
                  </a:cubicBezTo>
                  <a:cubicBezTo>
                    <a:pt x="2867528" y="1292608"/>
                    <a:pt x="2225563" y="1665481"/>
                    <a:pt x="1433764" y="1665481"/>
                  </a:cubicBezTo>
                  <a:cubicBezTo>
                    <a:pt x="641965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867570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CODOHOLICS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0408" y="1817723"/>
            <a:ext cx="7396385" cy="2391890"/>
            <a:chOff x="0" y="0"/>
            <a:chExt cx="866713" cy="2802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6713" cy="280283"/>
            </a:xfrm>
            <a:custGeom>
              <a:avLst/>
              <a:gdLst/>
              <a:ahLst/>
              <a:cxnLst/>
              <a:rect r="r" b="b" t="t" l="l"/>
              <a:pathLst>
                <a:path h="280283" w="866713">
                  <a:moveTo>
                    <a:pt x="20444" y="0"/>
                  </a:moveTo>
                  <a:lnTo>
                    <a:pt x="846269" y="0"/>
                  </a:lnTo>
                  <a:cubicBezTo>
                    <a:pt x="857560" y="0"/>
                    <a:pt x="866713" y="9153"/>
                    <a:pt x="866713" y="20444"/>
                  </a:cubicBezTo>
                  <a:lnTo>
                    <a:pt x="866713" y="259839"/>
                  </a:lnTo>
                  <a:cubicBezTo>
                    <a:pt x="866713" y="271130"/>
                    <a:pt x="857560" y="280283"/>
                    <a:pt x="846269" y="280283"/>
                  </a:cubicBezTo>
                  <a:lnTo>
                    <a:pt x="20444" y="280283"/>
                  </a:lnTo>
                  <a:cubicBezTo>
                    <a:pt x="9153" y="280283"/>
                    <a:pt x="0" y="271130"/>
                    <a:pt x="0" y="259839"/>
                  </a:cubicBezTo>
                  <a:lnTo>
                    <a:pt x="0" y="20444"/>
                  </a:lnTo>
                  <a:cubicBezTo>
                    <a:pt x="0" y="9153"/>
                    <a:pt x="9153" y="0"/>
                    <a:pt x="2044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66713" cy="29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5612" y="1608420"/>
            <a:ext cx="3406567" cy="682562"/>
            <a:chOff x="0" y="0"/>
            <a:chExt cx="897255" cy="1797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7255" cy="179705"/>
            </a:xfrm>
            <a:custGeom>
              <a:avLst/>
              <a:gdLst/>
              <a:ahLst/>
              <a:cxnLst/>
              <a:rect r="r" b="b" t="t" l="l"/>
              <a:pathLst>
                <a:path h="179705" w="897255">
                  <a:moveTo>
                    <a:pt x="897255" y="63634"/>
                  </a:moveTo>
                  <a:lnTo>
                    <a:pt x="897255" y="116071"/>
                  </a:lnTo>
                  <a:cubicBezTo>
                    <a:pt x="897255" y="151215"/>
                    <a:pt x="868765" y="179705"/>
                    <a:pt x="833621" y="179705"/>
                  </a:cubicBezTo>
                  <a:lnTo>
                    <a:pt x="63634" y="179705"/>
                  </a:lnTo>
                  <a:cubicBezTo>
                    <a:pt x="46757" y="179705"/>
                    <a:pt x="30572" y="173001"/>
                    <a:pt x="18638" y="161067"/>
                  </a:cubicBezTo>
                  <a:cubicBezTo>
                    <a:pt x="6704" y="149133"/>
                    <a:pt x="0" y="132948"/>
                    <a:pt x="0" y="116071"/>
                  </a:cubicBezTo>
                  <a:lnTo>
                    <a:pt x="0" y="63634"/>
                  </a:lnTo>
                  <a:cubicBezTo>
                    <a:pt x="0" y="46757"/>
                    <a:pt x="6704" y="30572"/>
                    <a:pt x="18638" y="18638"/>
                  </a:cubicBezTo>
                  <a:cubicBezTo>
                    <a:pt x="30572" y="6704"/>
                    <a:pt x="46757" y="0"/>
                    <a:pt x="63634" y="0"/>
                  </a:cubicBezTo>
                  <a:lnTo>
                    <a:pt x="833621" y="0"/>
                  </a:lnTo>
                  <a:cubicBezTo>
                    <a:pt x="850498" y="0"/>
                    <a:pt x="866683" y="6704"/>
                    <a:pt x="878617" y="18638"/>
                  </a:cubicBezTo>
                  <a:cubicBezTo>
                    <a:pt x="890551" y="30572"/>
                    <a:pt x="897255" y="46757"/>
                    <a:pt x="897255" y="6363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97255" cy="198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027104" y="1786220"/>
            <a:ext cx="10158591" cy="7440577"/>
            <a:chOff x="0" y="0"/>
            <a:chExt cx="1144828" cy="838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44828" cy="838520"/>
            </a:xfrm>
            <a:custGeom>
              <a:avLst/>
              <a:gdLst/>
              <a:ahLst/>
              <a:cxnLst/>
              <a:rect r="r" b="b" t="t" l="l"/>
              <a:pathLst>
                <a:path h="838520" w="1144828">
                  <a:moveTo>
                    <a:pt x="14885" y="0"/>
                  </a:moveTo>
                  <a:lnTo>
                    <a:pt x="1129943" y="0"/>
                  </a:lnTo>
                  <a:cubicBezTo>
                    <a:pt x="1133891" y="0"/>
                    <a:pt x="1137677" y="1568"/>
                    <a:pt x="1140468" y="4360"/>
                  </a:cubicBezTo>
                  <a:cubicBezTo>
                    <a:pt x="1143260" y="7151"/>
                    <a:pt x="1144828" y="10937"/>
                    <a:pt x="1144828" y="14885"/>
                  </a:cubicBezTo>
                  <a:lnTo>
                    <a:pt x="1144828" y="823635"/>
                  </a:lnTo>
                  <a:cubicBezTo>
                    <a:pt x="1144828" y="831856"/>
                    <a:pt x="1138164" y="838520"/>
                    <a:pt x="1129943" y="838520"/>
                  </a:cubicBezTo>
                  <a:lnTo>
                    <a:pt x="14885" y="838520"/>
                  </a:lnTo>
                  <a:cubicBezTo>
                    <a:pt x="6664" y="838520"/>
                    <a:pt x="0" y="831856"/>
                    <a:pt x="0" y="823635"/>
                  </a:cubicBezTo>
                  <a:lnTo>
                    <a:pt x="0" y="14885"/>
                  </a:lnTo>
                  <a:cubicBezTo>
                    <a:pt x="0" y="6664"/>
                    <a:pt x="6664" y="0"/>
                    <a:pt x="1488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144828" cy="857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664961" y="1595752"/>
            <a:ext cx="5040950" cy="682562"/>
            <a:chOff x="0" y="0"/>
            <a:chExt cx="1327735" cy="1797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7735" cy="179705"/>
            </a:xfrm>
            <a:custGeom>
              <a:avLst/>
              <a:gdLst/>
              <a:ahLst/>
              <a:cxnLst/>
              <a:rect r="r" b="b" t="t" l="l"/>
              <a:pathLst>
                <a:path h="179705" w="1327735">
                  <a:moveTo>
                    <a:pt x="1327735" y="43003"/>
                  </a:moveTo>
                  <a:lnTo>
                    <a:pt x="1327735" y="136702"/>
                  </a:lnTo>
                  <a:cubicBezTo>
                    <a:pt x="1327735" y="160452"/>
                    <a:pt x="1308482" y="179705"/>
                    <a:pt x="1284732" y="179705"/>
                  </a:cubicBezTo>
                  <a:lnTo>
                    <a:pt x="43003" y="179705"/>
                  </a:lnTo>
                  <a:cubicBezTo>
                    <a:pt x="31598" y="179705"/>
                    <a:pt x="20660" y="175174"/>
                    <a:pt x="12595" y="167110"/>
                  </a:cubicBezTo>
                  <a:cubicBezTo>
                    <a:pt x="4531" y="159045"/>
                    <a:pt x="0" y="148107"/>
                    <a:pt x="0" y="136702"/>
                  </a:cubicBezTo>
                  <a:lnTo>
                    <a:pt x="0" y="43003"/>
                  </a:lnTo>
                  <a:cubicBezTo>
                    <a:pt x="0" y="31598"/>
                    <a:pt x="4531" y="20660"/>
                    <a:pt x="12595" y="12595"/>
                  </a:cubicBezTo>
                  <a:cubicBezTo>
                    <a:pt x="20660" y="4531"/>
                    <a:pt x="31598" y="0"/>
                    <a:pt x="43003" y="0"/>
                  </a:cubicBezTo>
                  <a:lnTo>
                    <a:pt x="1284732" y="0"/>
                  </a:lnTo>
                  <a:cubicBezTo>
                    <a:pt x="1296137" y="0"/>
                    <a:pt x="1307075" y="4531"/>
                    <a:pt x="1315140" y="12595"/>
                  </a:cubicBezTo>
                  <a:cubicBezTo>
                    <a:pt x="1323204" y="20660"/>
                    <a:pt x="1327735" y="31598"/>
                    <a:pt x="1327735" y="4300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327735" cy="198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8329639" y="2478338"/>
            <a:ext cx="9758131" cy="6509659"/>
          </a:xfrm>
          <a:custGeom>
            <a:avLst/>
            <a:gdLst/>
            <a:ahLst/>
            <a:cxnLst/>
            <a:rect r="r" b="b" t="t" l="l"/>
            <a:pathLst>
              <a:path h="6509659" w="9758131">
                <a:moveTo>
                  <a:pt x="0" y="0"/>
                </a:moveTo>
                <a:lnTo>
                  <a:pt x="9758131" y="0"/>
                </a:lnTo>
                <a:lnTo>
                  <a:pt x="9758131" y="6509659"/>
                </a:lnTo>
                <a:lnTo>
                  <a:pt x="0" y="6509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75612" y="5076388"/>
            <a:ext cx="6496688" cy="4331125"/>
          </a:xfrm>
          <a:custGeom>
            <a:avLst/>
            <a:gdLst/>
            <a:ahLst/>
            <a:cxnLst/>
            <a:rect r="r" b="b" t="t" l="l"/>
            <a:pathLst>
              <a:path h="4331125" w="6496688">
                <a:moveTo>
                  <a:pt x="0" y="0"/>
                </a:moveTo>
                <a:lnTo>
                  <a:pt x="6496688" y="0"/>
                </a:lnTo>
                <a:lnTo>
                  <a:pt x="6496688" y="4331125"/>
                </a:lnTo>
                <a:lnTo>
                  <a:pt x="0" y="4331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-2120173" y="1770098"/>
            <a:ext cx="85981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ATEMENT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93148" y="1738595"/>
            <a:ext cx="47845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SOLUTION &amp; INNOVATION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1182" y="2459288"/>
            <a:ext cx="7216744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Land acquisition in India is slowed by approvals, legal disputes, R&amp;R, and land ownership issues.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These challenges create bottlenecks, uncertainty, and project delays.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3008" y="2248"/>
            <a:ext cx="2150678" cy="1249101"/>
            <a:chOff x="0" y="0"/>
            <a:chExt cx="2867570" cy="1665468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86752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67528">
                  <a:moveTo>
                    <a:pt x="0" y="832740"/>
                  </a:moveTo>
                  <a:cubicBezTo>
                    <a:pt x="0" y="372873"/>
                    <a:pt x="641965" y="0"/>
                    <a:pt x="1433764" y="0"/>
                  </a:cubicBezTo>
                  <a:cubicBezTo>
                    <a:pt x="2225563" y="0"/>
                    <a:pt x="2867528" y="372873"/>
                    <a:pt x="2867528" y="832740"/>
                  </a:cubicBezTo>
                  <a:cubicBezTo>
                    <a:pt x="2867528" y="1292608"/>
                    <a:pt x="2225563" y="1665481"/>
                    <a:pt x="1433764" y="1665481"/>
                  </a:cubicBezTo>
                  <a:cubicBezTo>
                    <a:pt x="641965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867570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CODOHOLICS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2885" y="2688971"/>
            <a:ext cx="3086100" cy="823223"/>
            <a:chOff x="0" y="0"/>
            <a:chExt cx="635000" cy="1693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" cy="169387"/>
            </a:xfrm>
            <a:custGeom>
              <a:avLst/>
              <a:gdLst/>
              <a:ahLst/>
              <a:cxnLst/>
              <a:rect r="r" b="b" t="t" l="l"/>
              <a:pathLst>
                <a:path h="169387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120391"/>
                  </a:lnTo>
                  <a:cubicBezTo>
                    <a:pt x="635000" y="133385"/>
                    <a:pt x="629838" y="145848"/>
                    <a:pt x="620649" y="155037"/>
                  </a:cubicBezTo>
                  <a:cubicBezTo>
                    <a:pt x="611460" y="164225"/>
                    <a:pt x="598998" y="169387"/>
                    <a:pt x="586003" y="169387"/>
                  </a:cubicBezTo>
                  <a:lnTo>
                    <a:pt x="48997" y="169387"/>
                  </a:lnTo>
                  <a:cubicBezTo>
                    <a:pt x="21937" y="169387"/>
                    <a:pt x="0" y="147451"/>
                    <a:pt x="0" y="120391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35000" cy="188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62885" y="5340825"/>
            <a:ext cx="3086223" cy="737903"/>
            <a:chOff x="0" y="0"/>
            <a:chExt cx="635000" cy="1518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151826"/>
            </a:xfrm>
            <a:custGeom>
              <a:avLst/>
              <a:gdLst/>
              <a:ahLst/>
              <a:cxnLst/>
              <a:rect r="r" b="b" t="t" l="l"/>
              <a:pathLst>
                <a:path h="151826" w="635000">
                  <a:moveTo>
                    <a:pt x="48995" y="0"/>
                  </a:moveTo>
                  <a:lnTo>
                    <a:pt x="586005" y="0"/>
                  </a:lnTo>
                  <a:cubicBezTo>
                    <a:pt x="613064" y="0"/>
                    <a:pt x="635000" y="21936"/>
                    <a:pt x="635000" y="48995"/>
                  </a:cubicBezTo>
                  <a:lnTo>
                    <a:pt x="635000" y="102831"/>
                  </a:lnTo>
                  <a:cubicBezTo>
                    <a:pt x="635000" y="129890"/>
                    <a:pt x="613064" y="151826"/>
                    <a:pt x="586005" y="151826"/>
                  </a:cubicBezTo>
                  <a:lnTo>
                    <a:pt x="48995" y="151826"/>
                  </a:lnTo>
                  <a:cubicBezTo>
                    <a:pt x="21936" y="151826"/>
                    <a:pt x="0" y="129890"/>
                    <a:pt x="0" y="102831"/>
                  </a:cubicBezTo>
                  <a:lnTo>
                    <a:pt x="0" y="48995"/>
                  </a:lnTo>
                  <a:cubicBezTo>
                    <a:pt x="0" y="21936"/>
                    <a:pt x="21936" y="0"/>
                    <a:pt x="48995" y="0"/>
                  </a:cubicBezTo>
                  <a:close/>
                </a:path>
              </a:pathLst>
            </a:custGeom>
            <a:solidFill>
              <a:srgbClr val="D4BDF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35000" cy="170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63008" y="3950344"/>
            <a:ext cx="3086100" cy="821974"/>
            <a:chOff x="0" y="0"/>
            <a:chExt cx="635000" cy="1691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" cy="169130"/>
            </a:xfrm>
            <a:custGeom>
              <a:avLst/>
              <a:gdLst/>
              <a:ahLst/>
              <a:cxnLst/>
              <a:rect r="r" b="b" t="t" l="l"/>
              <a:pathLst>
                <a:path h="16913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120134"/>
                  </a:lnTo>
                  <a:cubicBezTo>
                    <a:pt x="635000" y="147194"/>
                    <a:pt x="613063" y="169130"/>
                    <a:pt x="586003" y="169130"/>
                  </a:cubicBezTo>
                  <a:lnTo>
                    <a:pt x="48997" y="169130"/>
                  </a:lnTo>
                  <a:cubicBezTo>
                    <a:pt x="36002" y="169130"/>
                    <a:pt x="23540" y="163968"/>
                    <a:pt x="14351" y="154780"/>
                  </a:cubicBezTo>
                  <a:cubicBezTo>
                    <a:pt x="5162" y="145591"/>
                    <a:pt x="0" y="133128"/>
                    <a:pt x="0" y="120134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A5E7B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35000" cy="169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2.DATA PROCESSING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805935" y="3512194"/>
            <a:ext cx="123" cy="4381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263008" y="6679636"/>
            <a:ext cx="3086100" cy="719827"/>
            <a:chOff x="0" y="0"/>
            <a:chExt cx="635000" cy="1481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" cy="148112"/>
            </a:xfrm>
            <a:custGeom>
              <a:avLst/>
              <a:gdLst/>
              <a:ahLst/>
              <a:cxnLst/>
              <a:rect r="r" b="b" t="t" l="l"/>
              <a:pathLst>
                <a:path h="148112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99116"/>
                  </a:lnTo>
                  <a:cubicBezTo>
                    <a:pt x="635000" y="112110"/>
                    <a:pt x="629838" y="124573"/>
                    <a:pt x="620649" y="133762"/>
                  </a:cubicBezTo>
                  <a:cubicBezTo>
                    <a:pt x="611460" y="142950"/>
                    <a:pt x="598998" y="148112"/>
                    <a:pt x="586003" y="148112"/>
                  </a:cubicBezTo>
                  <a:lnTo>
                    <a:pt x="48997" y="148112"/>
                  </a:lnTo>
                  <a:cubicBezTo>
                    <a:pt x="36002" y="148112"/>
                    <a:pt x="23540" y="142950"/>
                    <a:pt x="14351" y="133762"/>
                  </a:cubicBezTo>
                  <a:cubicBezTo>
                    <a:pt x="5162" y="124573"/>
                    <a:pt x="0" y="112110"/>
                    <a:pt x="0" y="99116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6C69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35000" cy="167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H="true">
            <a:off x="1805997" y="4772318"/>
            <a:ext cx="62" cy="5685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2" id="32"/>
          <p:cNvSpPr txBox="true"/>
          <p:nvPr/>
        </p:nvSpPr>
        <p:spPr>
          <a:xfrm rot="0">
            <a:off x="263008" y="2902146"/>
            <a:ext cx="308610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1.DATA COLLECTION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-204703" y="5511340"/>
            <a:ext cx="308610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3.AI MODEL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9210" y="6841112"/>
            <a:ext cx="308610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4.RISK CLASSIFICATION</a:t>
            </a:r>
          </a:p>
        </p:txBody>
      </p:sp>
      <p:sp>
        <p:nvSpPr>
          <p:cNvPr name="AutoShape 35" id="35"/>
          <p:cNvSpPr/>
          <p:nvPr/>
        </p:nvSpPr>
        <p:spPr>
          <a:xfrm>
            <a:off x="1805997" y="6078728"/>
            <a:ext cx="62" cy="6009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6" id="36"/>
          <p:cNvSpPr txBox="true"/>
          <p:nvPr/>
        </p:nvSpPr>
        <p:spPr>
          <a:xfrm rot="0">
            <a:off x="263008" y="8170987"/>
            <a:ext cx="308610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5.OUTPUT &amp; ACTION</a:t>
            </a:r>
          </a:p>
        </p:txBody>
      </p:sp>
      <p:sp>
        <p:nvSpPr>
          <p:cNvPr name="AutoShape 37" id="37"/>
          <p:cNvSpPr/>
          <p:nvPr/>
        </p:nvSpPr>
        <p:spPr>
          <a:xfrm>
            <a:off x="1806058" y="7399462"/>
            <a:ext cx="0" cy="5715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263008" y="1595752"/>
            <a:ext cx="4728885" cy="7007710"/>
            <a:chOff x="0" y="0"/>
            <a:chExt cx="1245468" cy="18456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5468" cy="1845652"/>
            </a:xfrm>
            <a:custGeom>
              <a:avLst/>
              <a:gdLst/>
              <a:ahLst/>
              <a:cxnLst/>
              <a:rect r="r" b="b" t="t" l="l"/>
              <a:pathLst>
                <a:path h="1845652" w="1245468">
                  <a:moveTo>
                    <a:pt x="83495" y="0"/>
                  </a:moveTo>
                  <a:lnTo>
                    <a:pt x="1161973" y="0"/>
                  </a:lnTo>
                  <a:cubicBezTo>
                    <a:pt x="1184117" y="0"/>
                    <a:pt x="1205354" y="8797"/>
                    <a:pt x="1221012" y="24455"/>
                  </a:cubicBezTo>
                  <a:cubicBezTo>
                    <a:pt x="1236671" y="40113"/>
                    <a:pt x="1245468" y="61351"/>
                    <a:pt x="1245468" y="83495"/>
                  </a:cubicBezTo>
                  <a:lnTo>
                    <a:pt x="1245468" y="1762157"/>
                  </a:lnTo>
                  <a:cubicBezTo>
                    <a:pt x="1245468" y="1808270"/>
                    <a:pt x="1208086" y="1845652"/>
                    <a:pt x="1161973" y="1845652"/>
                  </a:cubicBezTo>
                  <a:lnTo>
                    <a:pt x="83495" y="1845652"/>
                  </a:lnTo>
                  <a:cubicBezTo>
                    <a:pt x="61351" y="1845652"/>
                    <a:pt x="40113" y="1836855"/>
                    <a:pt x="24455" y="1821197"/>
                  </a:cubicBezTo>
                  <a:cubicBezTo>
                    <a:pt x="8797" y="1805539"/>
                    <a:pt x="0" y="1784301"/>
                    <a:pt x="0" y="1762157"/>
                  </a:cubicBezTo>
                  <a:lnTo>
                    <a:pt x="0" y="83495"/>
                  </a:lnTo>
                  <a:cubicBezTo>
                    <a:pt x="0" y="61351"/>
                    <a:pt x="8797" y="40113"/>
                    <a:pt x="24455" y="24455"/>
                  </a:cubicBezTo>
                  <a:cubicBezTo>
                    <a:pt x="40113" y="8797"/>
                    <a:pt x="61351" y="0"/>
                    <a:pt x="83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245468" cy="1864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72694" y="6788274"/>
            <a:ext cx="467291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Scikit-learn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Delay Prediction Model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 classification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5234601" y="1292261"/>
            <a:ext cx="5015534" cy="8174549"/>
          </a:xfrm>
          <a:custGeom>
            <a:avLst/>
            <a:gdLst/>
            <a:ahLst/>
            <a:cxnLst/>
            <a:rect r="r" b="b" t="t" l="l"/>
            <a:pathLst>
              <a:path h="8174549" w="5015534">
                <a:moveTo>
                  <a:pt x="0" y="0"/>
                </a:moveTo>
                <a:lnTo>
                  <a:pt x="5015534" y="0"/>
                </a:lnTo>
                <a:lnTo>
                  <a:pt x="5015534" y="8174549"/>
                </a:lnTo>
                <a:lnTo>
                  <a:pt x="0" y="8174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835" t="0" r="-23149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0955001" y="3062689"/>
            <a:ext cx="7151759" cy="689718"/>
            <a:chOff x="0" y="0"/>
            <a:chExt cx="1878415" cy="1811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78415" cy="181155"/>
            </a:xfrm>
            <a:custGeom>
              <a:avLst/>
              <a:gdLst/>
              <a:ahLst/>
              <a:cxnLst/>
              <a:rect r="r" b="b" t="t" l="l"/>
              <a:pathLst>
                <a:path h="181155" w="1878415">
                  <a:moveTo>
                    <a:pt x="21143" y="0"/>
                  </a:moveTo>
                  <a:lnTo>
                    <a:pt x="1857272" y="0"/>
                  </a:lnTo>
                  <a:cubicBezTo>
                    <a:pt x="1868949" y="0"/>
                    <a:pt x="1878415" y="9466"/>
                    <a:pt x="1878415" y="21143"/>
                  </a:cubicBezTo>
                  <a:lnTo>
                    <a:pt x="1878415" y="160012"/>
                  </a:lnTo>
                  <a:cubicBezTo>
                    <a:pt x="1878415" y="165619"/>
                    <a:pt x="1876188" y="170997"/>
                    <a:pt x="1872223" y="174962"/>
                  </a:cubicBezTo>
                  <a:cubicBezTo>
                    <a:pt x="1868258" y="178927"/>
                    <a:pt x="1862880" y="181155"/>
                    <a:pt x="1857272" y="181155"/>
                  </a:cubicBezTo>
                  <a:lnTo>
                    <a:pt x="21143" y="181155"/>
                  </a:lnTo>
                  <a:cubicBezTo>
                    <a:pt x="9466" y="181155"/>
                    <a:pt x="0" y="171689"/>
                    <a:pt x="0" y="160012"/>
                  </a:cubicBezTo>
                  <a:lnTo>
                    <a:pt x="0" y="21143"/>
                  </a:lnTo>
                  <a:cubicBezTo>
                    <a:pt x="0" y="9466"/>
                    <a:pt x="9466" y="0"/>
                    <a:pt x="211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878415" cy="18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0250135" y="3826601"/>
            <a:ext cx="8154834" cy="3869781"/>
          </a:xfrm>
          <a:custGeom>
            <a:avLst/>
            <a:gdLst/>
            <a:ahLst/>
            <a:cxnLst/>
            <a:rect r="r" b="b" t="t" l="l"/>
            <a:pathLst>
              <a:path h="3869781" w="8154834">
                <a:moveTo>
                  <a:pt x="0" y="0"/>
                </a:moveTo>
                <a:lnTo>
                  <a:pt x="8154834" y="0"/>
                </a:lnTo>
                <a:lnTo>
                  <a:pt x="8154834" y="3869782"/>
                </a:lnTo>
                <a:lnTo>
                  <a:pt x="0" y="3869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204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4211232" y="-311090"/>
            <a:ext cx="308610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3.AI MODEL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0" y="1760036"/>
            <a:ext cx="337246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72694" y="2312486"/>
            <a:ext cx="3481985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React.js    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ReactRouter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leaflet/GIS Maps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72694" y="4560386"/>
            <a:ext cx="429263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FastAPI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REST APIs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-2124833" y="3969836"/>
            <a:ext cx="69263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-925972" y="6217736"/>
            <a:ext cx="433128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AI/ML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707650" y="3228090"/>
            <a:ext cx="3239802" cy="32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  <a:spcBef>
                <a:spcPct val="0"/>
              </a:spcBef>
            </a:pPr>
            <a:r>
              <a:rPr lang="en-US" b="true" sz="212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WORKING PROTOTYPE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612" y="2036593"/>
            <a:ext cx="4995222" cy="5183087"/>
            <a:chOff x="0" y="0"/>
            <a:chExt cx="1315614" cy="1365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5614" cy="1365093"/>
            </a:xfrm>
            <a:custGeom>
              <a:avLst/>
              <a:gdLst/>
              <a:ahLst/>
              <a:cxnLst/>
              <a:rect r="r" b="b" t="t" l="l"/>
              <a:pathLst>
                <a:path h="1365093" w="1315614">
                  <a:moveTo>
                    <a:pt x="79043" y="0"/>
                  </a:moveTo>
                  <a:lnTo>
                    <a:pt x="1236571" y="0"/>
                  </a:lnTo>
                  <a:cubicBezTo>
                    <a:pt x="1257534" y="0"/>
                    <a:pt x="1277639" y="8328"/>
                    <a:pt x="1292463" y="23151"/>
                  </a:cubicBezTo>
                  <a:cubicBezTo>
                    <a:pt x="1307286" y="37975"/>
                    <a:pt x="1315614" y="58080"/>
                    <a:pt x="1315614" y="79043"/>
                  </a:cubicBezTo>
                  <a:lnTo>
                    <a:pt x="1315614" y="1286050"/>
                  </a:lnTo>
                  <a:cubicBezTo>
                    <a:pt x="1315614" y="1329704"/>
                    <a:pt x="1280225" y="1365093"/>
                    <a:pt x="1236571" y="1365093"/>
                  </a:cubicBezTo>
                  <a:lnTo>
                    <a:pt x="79043" y="1365093"/>
                  </a:lnTo>
                  <a:cubicBezTo>
                    <a:pt x="35389" y="1365093"/>
                    <a:pt x="0" y="1329704"/>
                    <a:pt x="0" y="1286050"/>
                  </a:cubicBezTo>
                  <a:lnTo>
                    <a:pt x="0" y="79043"/>
                  </a:lnTo>
                  <a:cubicBezTo>
                    <a:pt x="0" y="35389"/>
                    <a:pt x="35389" y="0"/>
                    <a:pt x="790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315614" cy="1384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93587" y="2036593"/>
            <a:ext cx="5108736" cy="5265907"/>
            <a:chOff x="0" y="0"/>
            <a:chExt cx="1345511" cy="13869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5511" cy="1386906"/>
            </a:xfrm>
            <a:custGeom>
              <a:avLst/>
              <a:gdLst/>
              <a:ahLst/>
              <a:cxnLst/>
              <a:rect r="r" b="b" t="t" l="l"/>
              <a:pathLst>
                <a:path h="1386906" w="1345511">
                  <a:moveTo>
                    <a:pt x="77287" y="0"/>
                  </a:moveTo>
                  <a:lnTo>
                    <a:pt x="1268224" y="0"/>
                  </a:lnTo>
                  <a:cubicBezTo>
                    <a:pt x="1288722" y="0"/>
                    <a:pt x="1308380" y="8143"/>
                    <a:pt x="1322874" y="22637"/>
                  </a:cubicBezTo>
                  <a:cubicBezTo>
                    <a:pt x="1337368" y="37131"/>
                    <a:pt x="1345511" y="56789"/>
                    <a:pt x="1345511" y="77287"/>
                  </a:cubicBezTo>
                  <a:lnTo>
                    <a:pt x="1345511" y="1309619"/>
                  </a:lnTo>
                  <a:cubicBezTo>
                    <a:pt x="1345511" y="1330116"/>
                    <a:pt x="1337368" y="1349775"/>
                    <a:pt x="1322874" y="1364269"/>
                  </a:cubicBezTo>
                  <a:cubicBezTo>
                    <a:pt x="1308380" y="1378763"/>
                    <a:pt x="1288722" y="1386906"/>
                    <a:pt x="1268224" y="1386906"/>
                  </a:cubicBezTo>
                  <a:lnTo>
                    <a:pt x="77287" y="1386906"/>
                  </a:lnTo>
                  <a:cubicBezTo>
                    <a:pt x="56789" y="1386906"/>
                    <a:pt x="37131" y="1378763"/>
                    <a:pt x="22637" y="1364269"/>
                  </a:cubicBezTo>
                  <a:cubicBezTo>
                    <a:pt x="8143" y="1349775"/>
                    <a:pt x="0" y="1330116"/>
                    <a:pt x="0" y="1309619"/>
                  </a:cubicBezTo>
                  <a:lnTo>
                    <a:pt x="0" y="77287"/>
                  </a:lnTo>
                  <a:cubicBezTo>
                    <a:pt x="0" y="56789"/>
                    <a:pt x="8143" y="37131"/>
                    <a:pt x="22637" y="22637"/>
                  </a:cubicBezTo>
                  <a:cubicBezTo>
                    <a:pt x="37131" y="8143"/>
                    <a:pt x="56789" y="0"/>
                    <a:pt x="7728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45511" cy="1405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78301" y="2036593"/>
            <a:ext cx="5480999" cy="5183087"/>
            <a:chOff x="0" y="0"/>
            <a:chExt cx="1443555" cy="13650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43555" cy="1365093"/>
            </a:xfrm>
            <a:custGeom>
              <a:avLst/>
              <a:gdLst/>
              <a:ahLst/>
              <a:cxnLst/>
              <a:rect r="r" b="b" t="t" l="l"/>
              <a:pathLst>
                <a:path h="1365093" w="1443555">
                  <a:moveTo>
                    <a:pt x="72038" y="0"/>
                  </a:moveTo>
                  <a:lnTo>
                    <a:pt x="1371518" y="0"/>
                  </a:lnTo>
                  <a:cubicBezTo>
                    <a:pt x="1411303" y="0"/>
                    <a:pt x="1443555" y="32252"/>
                    <a:pt x="1443555" y="72038"/>
                  </a:cubicBezTo>
                  <a:lnTo>
                    <a:pt x="1443555" y="1293055"/>
                  </a:lnTo>
                  <a:cubicBezTo>
                    <a:pt x="1443555" y="1332841"/>
                    <a:pt x="1411303" y="1365093"/>
                    <a:pt x="1371518" y="1365093"/>
                  </a:cubicBezTo>
                  <a:lnTo>
                    <a:pt x="72038" y="1365093"/>
                  </a:lnTo>
                  <a:cubicBezTo>
                    <a:pt x="52932" y="1365093"/>
                    <a:pt x="34609" y="1357503"/>
                    <a:pt x="21099" y="1343994"/>
                  </a:cubicBezTo>
                  <a:cubicBezTo>
                    <a:pt x="7590" y="1330484"/>
                    <a:pt x="0" y="1312161"/>
                    <a:pt x="0" y="1293055"/>
                  </a:cubicBezTo>
                  <a:lnTo>
                    <a:pt x="0" y="72038"/>
                  </a:lnTo>
                  <a:cubicBezTo>
                    <a:pt x="0" y="32252"/>
                    <a:pt x="32252" y="0"/>
                    <a:pt x="7203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443555" cy="1384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1810111"/>
            <a:ext cx="2916987" cy="584466"/>
            <a:chOff x="0" y="0"/>
            <a:chExt cx="897255" cy="1797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7255" cy="179705"/>
            </a:xfrm>
            <a:custGeom>
              <a:avLst/>
              <a:gdLst/>
              <a:ahLst/>
              <a:cxnLst/>
              <a:rect r="r" b="b" t="t" l="l"/>
              <a:pathLst>
                <a:path h="179705" w="897255">
                  <a:moveTo>
                    <a:pt x="897255" y="74314"/>
                  </a:moveTo>
                  <a:lnTo>
                    <a:pt x="897255" y="105391"/>
                  </a:lnTo>
                  <a:cubicBezTo>
                    <a:pt x="897255" y="125100"/>
                    <a:pt x="889425" y="144002"/>
                    <a:pt x="875489" y="157939"/>
                  </a:cubicBezTo>
                  <a:cubicBezTo>
                    <a:pt x="861552" y="171875"/>
                    <a:pt x="842650" y="179705"/>
                    <a:pt x="822941" y="179705"/>
                  </a:cubicBezTo>
                  <a:lnTo>
                    <a:pt x="74314" y="179705"/>
                  </a:lnTo>
                  <a:cubicBezTo>
                    <a:pt x="54605" y="179705"/>
                    <a:pt x="35703" y="171875"/>
                    <a:pt x="21766" y="157939"/>
                  </a:cubicBezTo>
                  <a:cubicBezTo>
                    <a:pt x="7830" y="144002"/>
                    <a:pt x="0" y="125100"/>
                    <a:pt x="0" y="105391"/>
                  </a:cubicBezTo>
                  <a:lnTo>
                    <a:pt x="0" y="74314"/>
                  </a:lnTo>
                  <a:cubicBezTo>
                    <a:pt x="0" y="54605"/>
                    <a:pt x="7830" y="35703"/>
                    <a:pt x="21766" y="21766"/>
                  </a:cubicBezTo>
                  <a:cubicBezTo>
                    <a:pt x="35703" y="7830"/>
                    <a:pt x="54605" y="0"/>
                    <a:pt x="74314" y="0"/>
                  </a:cubicBezTo>
                  <a:lnTo>
                    <a:pt x="822941" y="0"/>
                  </a:lnTo>
                  <a:cubicBezTo>
                    <a:pt x="842650" y="0"/>
                    <a:pt x="861552" y="7830"/>
                    <a:pt x="875489" y="21766"/>
                  </a:cubicBezTo>
                  <a:cubicBezTo>
                    <a:pt x="889425" y="35703"/>
                    <a:pt x="897255" y="54605"/>
                    <a:pt x="897255" y="743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97255" cy="198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572628" y="1753425"/>
            <a:ext cx="3406567" cy="682562"/>
            <a:chOff x="0" y="0"/>
            <a:chExt cx="897255" cy="1797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7255" cy="179705"/>
            </a:xfrm>
            <a:custGeom>
              <a:avLst/>
              <a:gdLst/>
              <a:ahLst/>
              <a:cxnLst/>
              <a:rect r="r" b="b" t="t" l="l"/>
              <a:pathLst>
                <a:path h="179705" w="897255">
                  <a:moveTo>
                    <a:pt x="897255" y="63634"/>
                  </a:moveTo>
                  <a:lnTo>
                    <a:pt x="897255" y="116071"/>
                  </a:lnTo>
                  <a:cubicBezTo>
                    <a:pt x="897255" y="151215"/>
                    <a:pt x="868765" y="179705"/>
                    <a:pt x="833621" y="179705"/>
                  </a:cubicBezTo>
                  <a:lnTo>
                    <a:pt x="63634" y="179705"/>
                  </a:lnTo>
                  <a:cubicBezTo>
                    <a:pt x="46757" y="179705"/>
                    <a:pt x="30572" y="173001"/>
                    <a:pt x="18638" y="161067"/>
                  </a:cubicBezTo>
                  <a:cubicBezTo>
                    <a:pt x="6704" y="149133"/>
                    <a:pt x="0" y="132948"/>
                    <a:pt x="0" y="116071"/>
                  </a:cubicBezTo>
                  <a:lnTo>
                    <a:pt x="0" y="63634"/>
                  </a:lnTo>
                  <a:cubicBezTo>
                    <a:pt x="0" y="46757"/>
                    <a:pt x="6704" y="30572"/>
                    <a:pt x="18638" y="18638"/>
                  </a:cubicBezTo>
                  <a:cubicBezTo>
                    <a:pt x="30572" y="6704"/>
                    <a:pt x="46757" y="0"/>
                    <a:pt x="63634" y="0"/>
                  </a:cubicBezTo>
                  <a:lnTo>
                    <a:pt x="833621" y="0"/>
                  </a:lnTo>
                  <a:cubicBezTo>
                    <a:pt x="850498" y="0"/>
                    <a:pt x="866683" y="6704"/>
                    <a:pt x="878617" y="18638"/>
                  </a:cubicBezTo>
                  <a:cubicBezTo>
                    <a:pt x="890551" y="30572"/>
                    <a:pt x="897255" y="46757"/>
                    <a:pt x="897255" y="6363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97255" cy="198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21284" y="1736233"/>
            <a:ext cx="2222716" cy="699754"/>
            <a:chOff x="0" y="0"/>
            <a:chExt cx="571057" cy="17970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1057" cy="179705"/>
            </a:xfrm>
            <a:custGeom>
              <a:avLst/>
              <a:gdLst/>
              <a:ahLst/>
              <a:cxnLst/>
              <a:rect r="r" b="b" t="t" l="l"/>
              <a:pathLst>
                <a:path h="179705" w="571057">
                  <a:moveTo>
                    <a:pt x="571057" y="89853"/>
                  </a:moveTo>
                  <a:lnTo>
                    <a:pt x="571057" y="89853"/>
                  </a:lnTo>
                  <a:cubicBezTo>
                    <a:pt x="571057" y="139477"/>
                    <a:pt x="530829" y="179705"/>
                    <a:pt x="481205" y="179705"/>
                  </a:cubicBezTo>
                  <a:lnTo>
                    <a:pt x="89853" y="179705"/>
                  </a:lnTo>
                  <a:cubicBezTo>
                    <a:pt x="40228" y="179705"/>
                    <a:pt x="0" y="139477"/>
                    <a:pt x="0" y="89853"/>
                  </a:cubicBezTo>
                  <a:lnTo>
                    <a:pt x="0" y="89853"/>
                  </a:lnTo>
                  <a:cubicBezTo>
                    <a:pt x="0" y="40228"/>
                    <a:pt x="40228" y="0"/>
                    <a:pt x="89853" y="0"/>
                  </a:cubicBezTo>
                  <a:lnTo>
                    <a:pt x="481205" y="0"/>
                  </a:lnTo>
                  <a:cubicBezTo>
                    <a:pt x="530829" y="0"/>
                    <a:pt x="571057" y="40228"/>
                    <a:pt x="571057" y="8985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71057" cy="198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7523980" y="7480165"/>
            <a:ext cx="8115300" cy="1874314"/>
          </a:xfrm>
          <a:custGeom>
            <a:avLst/>
            <a:gdLst/>
            <a:ahLst/>
            <a:cxnLst/>
            <a:rect r="r" b="b" t="t" l="l"/>
            <a:pathLst>
              <a:path h="1874314" w="8115300">
                <a:moveTo>
                  <a:pt x="0" y="0"/>
                </a:moveTo>
                <a:lnTo>
                  <a:pt x="8115300" y="0"/>
                </a:lnTo>
                <a:lnTo>
                  <a:pt x="8115300" y="1874314"/>
                </a:lnTo>
                <a:lnTo>
                  <a:pt x="0" y="1874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8213" r="0" b="-24601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307102" y="2415905"/>
            <a:ext cx="4995222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Economic Viability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Open-source technologies re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duce costs.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intervention reduces delay-related losses.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Sustainability &amp; Scalability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continuously i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mprove as new project outcomes become available.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Scales from District → State → National.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496743" y="2415905"/>
            <a:ext cx="4974091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Feasibility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proven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AI/ML and GIS technologies.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Cloud-ready with no specialized hardware.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Operational Feasibility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Simple dashboard for easy monitoring.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 scores and alerts enable early action.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778301" y="2415905"/>
            <a:ext cx="5330274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Quality: Cleaning, validation and regular updates.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Accuracy: Continuous testing and model improvement.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Security: Role-based access and secure APIs.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Adoption: Simple interface and administrator training.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915193" y="1816594"/>
            <a:ext cx="251213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asibility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04629" y="1816594"/>
            <a:ext cx="211472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ability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06857" y="1752961"/>
            <a:ext cx="4250659" cy="49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2"/>
              </a:lnSpc>
            </a:pPr>
            <a:r>
              <a:rPr lang="en-US" sz="289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</a:t>
            </a:r>
            <a:r>
              <a:rPr lang="en-US" b="true" sz="289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ATEGIES 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71259" y="8169672"/>
            <a:ext cx="354885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FEASIBILITY FLOW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63008" y="2248"/>
            <a:ext cx="2150678" cy="1249101"/>
            <a:chOff x="0" y="0"/>
            <a:chExt cx="2867570" cy="1665468"/>
          </a:xfrm>
        </p:grpSpPr>
        <p:sp>
          <p:nvSpPr>
            <p:cNvPr name="Freeform 42" id="42" descr="Your startup LOGO"/>
            <p:cNvSpPr/>
            <p:nvPr/>
          </p:nvSpPr>
          <p:spPr>
            <a:xfrm flipH="false" flipV="false" rot="0">
              <a:off x="0" y="0"/>
              <a:ext cx="286752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67528">
                  <a:moveTo>
                    <a:pt x="0" y="832740"/>
                  </a:moveTo>
                  <a:cubicBezTo>
                    <a:pt x="0" y="372873"/>
                    <a:pt x="641965" y="0"/>
                    <a:pt x="1433764" y="0"/>
                  </a:cubicBezTo>
                  <a:cubicBezTo>
                    <a:pt x="2225563" y="0"/>
                    <a:pt x="2867528" y="372873"/>
                    <a:pt x="2867528" y="832740"/>
                  </a:cubicBezTo>
                  <a:cubicBezTo>
                    <a:pt x="2867528" y="1292608"/>
                    <a:pt x="2225563" y="1665481"/>
                    <a:pt x="1433764" y="1665481"/>
                  </a:cubicBezTo>
                  <a:cubicBezTo>
                    <a:pt x="641965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2867570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CODOHOLICS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3008" y="2248"/>
            <a:ext cx="2150678" cy="1249101"/>
            <a:chOff x="0" y="0"/>
            <a:chExt cx="2867570" cy="1665468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86752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67528">
                  <a:moveTo>
                    <a:pt x="0" y="832740"/>
                  </a:moveTo>
                  <a:cubicBezTo>
                    <a:pt x="0" y="372873"/>
                    <a:pt x="641965" y="0"/>
                    <a:pt x="1433764" y="0"/>
                  </a:cubicBezTo>
                  <a:cubicBezTo>
                    <a:pt x="2225563" y="0"/>
                    <a:pt x="2867528" y="372873"/>
                    <a:pt x="2867528" y="832740"/>
                  </a:cubicBezTo>
                  <a:cubicBezTo>
                    <a:pt x="2867528" y="1292608"/>
                    <a:pt x="2225563" y="1665481"/>
                    <a:pt x="1433764" y="1665481"/>
                  </a:cubicBezTo>
                  <a:cubicBezTo>
                    <a:pt x="641965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867570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CODOHOLICS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33595" y="2458730"/>
            <a:ext cx="2093187" cy="550457"/>
            <a:chOff x="0" y="0"/>
            <a:chExt cx="1236641" cy="3252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36641" cy="325206"/>
            </a:xfrm>
            <a:custGeom>
              <a:avLst/>
              <a:gdLst/>
              <a:ahLst/>
              <a:cxnLst/>
              <a:rect r="r" b="b" t="t" l="l"/>
              <a:pathLst>
                <a:path h="325206" w="1236641">
                  <a:moveTo>
                    <a:pt x="72239" y="0"/>
                  </a:moveTo>
                  <a:lnTo>
                    <a:pt x="1164402" y="0"/>
                  </a:lnTo>
                  <a:cubicBezTo>
                    <a:pt x="1183561" y="0"/>
                    <a:pt x="1201935" y="7611"/>
                    <a:pt x="1215482" y="21158"/>
                  </a:cubicBezTo>
                  <a:cubicBezTo>
                    <a:pt x="1229030" y="34706"/>
                    <a:pt x="1236641" y="53080"/>
                    <a:pt x="1236641" y="72239"/>
                  </a:cubicBezTo>
                  <a:lnTo>
                    <a:pt x="1236641" y="252968"/>
                  </a:lnTo>
                  <a:cubicBezTo>
                    <a:pt x="1236641" y="292864"/>
                    <a:pt x="1204298" y="325206"/>
                    <a:pt x="1164402" y="325206"/>
                  </a:cubicBezTo>
                  <a:lnTo>
                    <a:pt x="72239" y="325206"/>
                  </a:lnTo>
                  <a:cubicBezTo>
                    <a:pt x="32342" y="325206"/>
                    <a:pt x="0" y="292864"/>
                    <a:pt x="0" y="252968"/>
                  </a:cubicBezTo>
                  <a:lnTo>
                    <a:pt x="0" y="72239"/>
                  </a:lnTo>
                  <a:cubicBezTo>
                    <a:pt x="0" y="32342"/>
                    <a:pt x="32342" y="0"/>
                    <a:pt x="722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36641" cy="34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1"/>
                </a:lnSpc>
              </a:pPr>
              <a:r>
                <a:rPr lang="en-US" b="true" sz="225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3901" y="2217146"/>
            <a:ext cx="9308017" cy="6143291"/>
            <a:chOff x="0" y="0"/>
            <a:chExt cx="635000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513901" y="3272927"/>
            <a:ext cx="9308017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5167910" y="2217146"/>
            <a:ext cx="16506" cy="614329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0606358" y="2781787"/>
            <a:ext cx="7085140" cy="4723427"/>
          </a:xfrm>
          <a:custGeom>
            <a:avLst/>
            <a:gdLst/>
            <a:ahLst/>
            <a:cxnLst/>
            <a:rect r="r" b="b" t="t" l="l"/>
            <a:pathLst>
              <a:path h="4723427" w="7085140">
                <a:moveTo>
                  <a:pt x="0" y="0"/>
                </a:moveTo>
                <a:lnTo>
                  <a:pt x="7085140" y="0"/>
                </a:lnTo>
                <a:lnTo>
                  <a:pt x="7085140" y="4723426"/>
                </a:lnTo>
                <a:lnTo>
                  <a:pt x="0" y="4723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8700" y="2373005"/>
            <a:ext cx="3488095" cy="77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sz="45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60120" y="2373005"/>
            <a:ext cx="3383880" cy="77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sz="45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3901" y="3353889"/>
            <a:ext cx="4921408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ASTER PROJECT COMPLETION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Detect delays early and enable timely intervention.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SAVINGS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Reduce cost overruns and improve fund utilization.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TARGETED RESOURCE ALLOCATION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Prioritize high-risk projects and optimize resources.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184416" y="3572964"/>
            <a:ext cx="4676723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REDUCED DEL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AYS –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Detect risks early and enable timely intervention.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BETTER DECISIONS –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Provide explainable, data-driven risk insights.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IMPROVED TRANSPARENCY –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Centralized monitoring and risk visibility.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51071" y="2660566"/>
            <a:ext cx="15037294" cy="5491097"/>
            <a:chOff x="0" y="0"/>
            <a:chExt cx="3960440" cy="14462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60440" cy="1446215"/>
            </a:xfrm>
            <a:custGeom>
              <a:avLst/>
              <a:gdLst/>
              <a:ahLst/>
              <a:cxnLst/>
              <a:rect r="r" b="b" t="t" l="l"/>
              <a:pathLst>
                <a:path h="1446215" w="3960440">
                  <a:moveTo>
                    <a:pt x="26257" y="0"/>
                  </a:moveTo>
                  <a:lnTo>
                    <a:pt x="3934182" y="0"/>
                  </a:lnTo>
                  <a:cubicBezTo>
                    <a:pt x="3941146" y="0"/>
                    <a:pt x="3947825" y="2766"/>
                    <a:pt x="3952749" y="7691"/>
                  </a:cubicBezTo>
                  <a:cubicBezTo>
                    <a:pt x="3957673" y="12615"/>
                    <a:pt x="3960440" y="19293"/>
                    <a:pt x="3960440" y="26257"/>
                  </a:cubicBezTo>
                  <a:lnTo>
                    <a:pt x="3960440" y="1419958"/>
                  </a:lnTo>
                  <a:cubicBezTo>
                    <a:pt x="3960440" y="1434459"/>
                    <a:pt x="3948684" y="1446215"/>
                    <a:pt x="3934182" y="1446215"/>
                  </a:cubicBezTo>
                  <a:lnTo>
                    <a:pt x="26257" y="1446215"/>
                  </a:lnTo>
                  <a:cubicBezTo>
                    <a:pt x="19293" y="1446215"/>
                    <a:pt x="12615" y="1443449"/>
                    <a:pt x="7691" y="1438524"/>
                  </a:cubicBezTo>
                  <a:cubicBezTo>
                    <a:pt x="2766" y="1433600"/>
                    <a:pt x="0" y="1426922"/>
                    <a:pt x="0" y="1419958"/>
                  </a:cubicBezTo>
                  <a:lnTo>
                    <a:pt x="0" y="26257"/>
                  </a:lnTo>
                  <a:cubicBezTo>
                    <a:pt x="0" y="19293"/>
                    <a:pt x="2766" y="12615"/>
                    <a:pt x="7691" y="7691"/>
                  </a:cubicBezTo>
                  <a:cubicBezTo>
                    <a:pt x="12615" y="2766"/>
                    <a:pt x="19293" y="0"/>
                    <a:pt x="262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960440" cy="1465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91499" y="2139063"/>
            <a:ext cx="8174284" cy="1043006"/>
            <a:chOff x="0" y="0"/>
            <a:chExt cx="2152898" cy="2747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52898" cy="274701"/>
            </a:xfrm>
            <a:custGeom>
              <a:avLst/>
              <a:gdLst/>
              <a:ahLst/>
              <a:cxnLst/>
              <a:rect r="r" b="b" t="t" l="l"/>
              <a:pathLst>
                <a:path h="274701" w="2152898">
                  <a:moveTo>
                    <a:pt x="48302" y="0"/>
                  </a:moveTo>
                  <a:lnTo>
                    <a:pt x="2104595" y="0"/>
                  </a:lnTo>
                  <a:cubicBezTo>
                    <a:pt x="2131272" y="0"/>
                    <a:pt x="2152898" y="21626"/>
                    <a:pt x="2152898" y="48302"/>
                  </a:cubicBezTo>
                  <a:lnTo>
                    <a:pt x="2152898" y="226399"/>
                  </a:lnTo>
                  <a:cubicBezTo>
                    <a:pt x="2152898" y="253075"/>
                    <a:pt x="2131272" y="274701"/>
                    <a:pt x="2104595" y="274701"/>
                  </a:cubicBezTo>
                  <a:lnTo>
                    <a:pt x="48302" y="274701"/>
                  </a:lnTo>
                  <a:cubicBezTo>
                    <a:pt x="21626" y="274701"/>
                    <a:pt x="0" y="253075"/>
                    <a:pt x="0" y="226399"/>
                  </a:cubicBezTo>
                  <a:lnTo>
                    <a:pt x="0" y="48302"/>
                  </a:lnTo>
                  <a:cubicBezTo>
                    <a:pt x="0" y="21626"/>
                    <a:pt x="21626" y="0"/>
                    <a:pt x="4830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52898" cy="293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15444" y="3172544"/>
            <a:ext cx="14508550" cy="543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40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Department of Land Resources — LACRRIS</a:t>
            </a:r>
          </a:p>
          <a:p>
            <a:pPr algn="l">
              <a:lnSpc>
                <a:spcPts val="2887"/>
              </a:lnSpc>
            </a:pPr>
            <a:r>
              <a:rPr lang="en-US" sz="240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Government of India’s official land-acquisition monitoring system.</a:t>
            </a:r>
          </a:p>
          <a:p>
            <a:pPr algn="l">
              <a:lnSpc>
                <a:spcPts val="2887"/>
              </a:lnSpc>
            </a:pPr>
            <a:r>
              <a:rPr lang="en-US" sz="240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Used for project milestones, acquisition timelines, compensation and R&amp;R benchmarks.</a:t>
            </a:r>
          </a:p>
          <a:p>
            <a:pPr algn="l">
              <a:lnSpc>
                <a:spcPts val="2887"/>
              </a:lnSpc>
            </a:pPr>
            <a:r>
              <a:rPr lang="en-US" sz="240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References:</a:t>
            </a:r>
          </a:p>
          <a:p>
            <a:pPr algn="l">
              <a:lnSpc>
                <a:spcPts val="2887"/>
              </a:lnSpc>
            </a:pPr>
            <a:r>
              <a:rPr lang="en-US" sz="240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larr.dolr.gov.in"/>
              </a:rPr>
              <a:t>https://larr.dolr.gov.in/</a:t>
            </a:r>
          </a:p>
          <a:p>
            <a:pPr algn="l">
              <a:lnSpc>
                <a:spcPts val="2887"/>
              </a:lnSpc>
            </a:pPr>
            <a:r>
              <a:rPr lang="en-US" sz="240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larr.dolr.gov.in/faces/public/projectwise.xhtml"/>
              </a:rPr>
              <a:t>https://larr.dolr.gov.in/faces/public/projectwise.xhtml</a:t>
            </a:r>
          </a:p>
          <a:p>
            <a:pPr algn="l">
              <a:lnSpc>
                <a:spcPts val="2887"/>
              </a:lnSpc>
            </a:pPr>
            <a:r>
              <a:rPr lang="en-US" sz="240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6" tooltip="https://www.larr.dolr.gov.in/faces/pdf/Steps_of_data_entry.pdf"/>
              </a:rPr>
              <a:t>https://www.larr.dolr.gov.in/faces/pdf/Steps_of_data_entry.pdf</a:t>
            </a:r>
          </a:p>
          <a:p>
            <a:pPr algn="l">
              <a:lnSpc>
                <a:spcPts val="2887"/>
              </a:lnSpc>
            </a:pPr>
            <a:r>
              <a:rPr lang="en-US" sz="2406" u="sng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Open Government Data Platform — data.gov.in</a:t>
            </a:r>
          </a:p>
          <a:p>
            <a:pPr algn="l">
              <a:lnSpc>
                <a:spcPts val="2887"/>
              </a:lnSpc>
            </a:pP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Government of India open-data platform used for land-acquisition and expenditure-related datasets.</a:t>
            </a:r>
          </a:p>
          <a:p>
            <a:pPr algn="l">
              <a:lnSpc>
                <a:spcPts val="2887"/>
              </a:lnSpc>
            </a:pP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References:</a:t>
            </a:r>
          </a:p>
          <a:p>
            <a:pPr algn="l">
              <a:lnSpc>
                <a:spcPts val="2887"/>
              </a:lnSpc>
            </a:pP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www.data.gov.in"/>
              </a:rPr>
              <a:t>https://www.data.gov.in/</a:t>
            </a:r>
          </a:p>
          <a:p>
            <a:pPr algn="l">
              <a:lnSpc>
                <a:spcPts val="2887"/>
              </a:lnSpc>
            </a:pP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NHAI Land Acquisition &amp; Expenditure Data</a:t>
            </a:r>
          </a:p>
          <a:p>
            <a:pPr algn="l">
              <a:lnSpc>
                <a:spcPts val="2887"/>
              </a:lnSpc>
            </a:pPr>
            <a:r>
              <a:rPr lang="en-US" sz="240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District-wise Farmers Affected by Land Acquisition</a:t>
            </a:r>
          </a:p>
          <a:p>
            <a:pPr algn="l">
              <a:lnSpc>
                <a:spcPts val="2887"/>
              </a:lnSpc>
            </a:pPr>
          </a:p>
          <a:p>
            <a:pPr algn="l">
              <a:lnSpc>
                <a:spcPts val="2887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538632" y="2351004"/>
            <a:ext cx="768578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RESEARCH</a:t>
            </a:r>
            <a:r>
              <a:rPr lang="en-US" b="true" sz="3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AND REFERENCES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63008" y="2248"/>
            <a:ext cx="2150678" cy="1249101"/>
            <a:chOff x="0" y="0"/>
            <a:chExt cx="2867570" cy="1665468"/>
          </a:xfrm>
        </p:grpSpPr>
        <p:sp>
          <p:nvSpPr>
            <p:cNvPr name="Freeform 24" id="24" descr="Your startup LOGO"/>
            <p:cNvSpPr/>
            <p:nvPr/>
          </p:nvSpPr>
          <p:spPr>
            <a:xfrm flipH="false" flipV="false" rot="0">
              <a:off x="0" y="0"/>
              <a:ext cx="286752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67528">
                  <a:moveTo>
                    <a:pt x="0" y="832740"/>
                  </a:moveTo>
                  <a:cubicBezTo>
                    <a:pt x="0" y="372873"/>
                    <a:pt x="641965" y="0"/>
                    <a:pt x="1433764" y="0"/>
                  </a:cubicBezTo>
                  <a:cubicBezTo>
                    <a:pt x="2225563" y="0"/>
                    <a:pt x="2867528" y="372873"/>
                    <a:pt x="2867528" y="832740"/>
                  </a:cubicBezTo>
                  <a:cubicBezTo>
                    <a:pt x="2867528" y="1292608"/>
                    <a:pt x="2225563" y="1665481"/>
                    <a:pt x="1433764" y="1665481"/>
                  </a:cubicBezTo>
                  <a:cubicBezTo>
                    <a:pt x="641965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867570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CODOHOLICS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DAHTv241tvo</dc:identifier>
  <dcterms:modified xsi:type="dcterms:W3CDTF">2011-08-01T06:04:30Z</dcterms:modified>
  <cp:revision>1</cp:revision>
  <dc:title>Team72</dc:title>
</cp:coreProperties>
</file>